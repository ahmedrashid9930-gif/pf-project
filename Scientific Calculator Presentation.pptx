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2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  <p:sldId id="261" r:id="rId9"/>
    <p:sldId id="265" r:id="rId10"/>
    <p:sldId id="271" r:id="rId11"/>
    <p:sldId id="270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eed irfan" userId="329c5e29847a9480" providerId="LiveId" clId="{62D0B45D-EE56-4183-A7AB-4E1AFAF71BA4}"/>
    <pc:docChg chg="custSel modSld">
      <pc:chgData name="waleed irfan" userId="329c5e29847a9480" providerId="LiveId" clId="{62D0B45D-EE56-4183-A7AB-4E1AFAF71BA4}" dt="2025-11-11T15:18:53.494" v="6" actId="20577"/>
      <pc:docMkLst>
        <pc:docMk/>
      </pc:docMkLst>
      <pc:sldChg chg="modSp mod">
        <pc:chgData name="waleed irfan" userId="329c5e29847a9480" providerId="LiveId" clId="{62D0B45D-EE56-4183-A7AB-4E1AFAF71BA4}" dt="2025-11-11T15:18:53.494" v="6" actId="20577"/>
        <pc:sldMkLst>
          <pc:docMk/>
          <pc:sldMk cId="0" sldId="256"/>
        </pc:sldMkLst>
        <pc:spChg chg="mod">
          <ac:chgData name="waleed irfan" userId="329c5e29847a9480" providerId="LiveId" clId="{62D0B45D-EE56-4183-A7AB-4E1AFAF71BA4}" dt="2025-11-11T15:18:53.494" v="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4723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673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15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9561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8021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5541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8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9995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480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9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8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348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8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88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2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0578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393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45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27" r:id="rId1"/>
    <p:sldLayoutId id="2147484428" r:id="rId2"/>
    <p:sldLayoutId id="2147484429" r:id="rId3"/>
    <p:sldLayoutId id="2147484430" r:id="rId4"/>
    <p:sldLayoutId id="2147484431" r:id="rId5"/>
    <p:sldLayoutId id="2147484432" r:id="rId6"/>
    <p:sldLayoutId id="2147484433" r:id="rId7"/>
    <p:sldLayoutId id="2147484434" r:id="rId8"/>
    <p:sldLayoutId id="2147484435" r:id="rId9"/>
    <p:sldLayoutId id="2147484436" r:id="rId10"/>
    <p:sldLayoutId id="2147484437" r:id="rId11"/>
    <p:sldLayoutId id="2147484438" r:id="rId12"/>
    <p:sldLayoutId id="2147484439" r:id="rId13"/>
    <p:sldLayoutId id="2147484440" r:id="rId14"/>
    <p:sldLayoutId id="2147484441" r:id="rId15"/>
    <p:sldLayoutId id="2147484442" r:id="rId16"/>
    <p:sldLayoutId id="2147484443" r:id="rId17"/>
  </p:sldLayoutIdLst>
  <p:transition spd="slow">
    <p:push dir="u"/>
  </p:transition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hulamRasool-collab" TargetMode="External"/><Relationship Id="rId2" Type="http://schemas.openxmlformats.org/officeDocument/2006/relationships/hyperlink" Target="https://github.com/ahmedrashid9930-gif/PF-projec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waleedirfan2006-arc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478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CCP				  </a:t>
            </a:r>
            <a:br>
              <a:rPr lang="en-US" dirty="0"/>
            </a:br>
            <a:r>
              <a:rPr lang="en-US" dirty="0"/>
              <a:t>S</a:t>
            </a:r>
            <a:r>
              <a:rPr dirty="0"/>
              <a:t>cientific Calculator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44486"/>
            <a:ext cx="7772400" cy="3799113"/>
          </a:xfrm>
        </p:spPr>
        <p:txBody>
          <a:bodyPr>
            <a:normAutofit/>
          </a:bodyPr>
          <a:lstStyle/>
          <a:p>
            <a:pPr algn="l"/>
            <a:r>
              <a:rPr sz="1600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Group Members:</a:t>
            </a:r>
            <a:endParaRPr lang="en-US" sz="1600" b="1" dirty="0">
              <a:solidFill>
                <a:schemeClr val="bg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pPr algn="l"/>
            <a:endParaRPr sz="1600" dirty="0">
              <a:highlight>
                <a:srgbClr val="FFFF00"/>
              </a:highlight>
            </a:endParaRPr>
          </a:p>
          <a:p>
            <a:pPr algn="l"/>
            <a:r>
              <a:rPr sz="1600" b="1" i="1" dirty="0"/>
              <a:t>• Ahmed Rashid (CT‑25079) – Coding </a:t>
            </a:r>
            <a:r>
              <a:rPr sz="1600" b="1" i="1" dirty="0" smtClean="0"/>
              <a:t>Lead</a:t>
            </a:r>
            <a:r>
              <a:rPr lang="en-US" sz="1600" b="1" i="1" dirty="0" smtClean="0"/>
              <a:t>            </a:t>
            </a:r>
            <a:endParaRPr sz="1600" b="1" i="1" dirty="0"/>
          </a:p>
          <a:p>
            <a:pPr algn="l"/>
            <a:r>
              <a:rPr sz="1600" b="1" i="1" dirty="0"/>
              <a:t>• </a:t>
            </a:r>
            <a:r>
              <a:rPr sz="1600" b="1" i="1" dirty="0" err="1"/>
              <a:t>Ghulam</a:t>
            </a:r>
            <a:r>
              <a:rPr sz="1600" b="1" i="1" dirty="0"/>
              <a:t> </a:t>
            </a:r>
            <a:r>
              <a:rPr sz="1600" b="1" i="1" dirty="0" err="1"/>
              <a:t>Rasool</a:t>
            </a:r>
            <a:r>
              <a:rPr sz="1600" b="1" i="1" dirty="0"/>
              <a:t> (CT‑25082) – Documentation</a:t>
            </a:r>
          </a:p>
          <a:p>
            <a:pPr algn="l"/>
            <a:r>
              <a:rPr sz="1600" b="1" i="1" dirty="0"/>
              <a:t>• Waleed Irfan (CT‑25099) – Logic &amp; Testing</a:t>
            </a:r>
            <a:endParaRPr lang="en-US" sz="1600" b="1" i="1" dirty="0"/>
          </a:p>
          <a:p>
            <a:pPr algn="l"/>
            <a:endParaRPr lang="en-US" sz="1600" dirty="0"/>
          </a:p>
          <a:p>
            <a:pPr algn="l"/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Github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  profiles :</a:t>
            </a:r>
          </a:p>
          <a:p>
            <a:r>
              <a:rPr lang="en-US" sz="1600" dirty="0">
                <a:hlinkClick r:id="rId2"/>
              </a:rPr>
              <a:t>https://github.com/ahmedrashid9930-gif/PF-project</a:t>
            </a:r>
            <a:endParaRPr lang="en-US" sz="1600" dirty="0"/>
          </a:p>
          <a:p>
            <a:pPr algn="l"/>
            <a:r>
              <a:rPr lang="en-US" sz="1600" dirty="0" smtClean="0">
                <a:hlinkClick r:id="rId3"/>
              </a:rPr>
              <a:t>https</a:t>
            </a:r>
            <a:r>
              <a:rPr lang="en-US" sz="1600" dirty="0">
                <a:hlinkClick r:id="rId3"/>
              </a:rPr>
              <a:t>://github.com/GhulamRasool-collab</a:t>
            </a:r>
            <a:endParaRPr lang="en-US" sz="1600" dirty="0"/>
          </a:p>
          <a:p>
            <a:pPr algn="l"/>
            <a:r>
              <a:rPr lang="en-US" sz="1600" dirty="0">
                <a:hlinkClick r:id="rId4"/>
              </a:rPr>
              <a:t>https://github.com/waleedirfan2006-arch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57" y="220003"/>
            <a:ext cx="7315200" cy="1154097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85" y="2046514"/>
            <a:ext cx="8744857" cy="3853542"/>
          </a:xfrm>
        </p:spPr>
        <p:txBody>
          <a:bodyPr>
            <a:normAutofit/>
          </a:bodyPr>
          <a:lstStyle/>
          <a:p>
            <a:r>
              <a:rPr dirty="0"/>
              <a:t>Menu‑driven scientific calculator</a:t>
            </a:r>
            <a:endParaRPr lang="en-US" dirty="0"/>
          </a:p>
          <a:p>
            <a:r>
              <a:rPr dirty="0"/>
              <a:t>Performs basic &amp; advanced math operations</a:t>
            </a:r>
          </a:p>
          <a:p>
            <a:r>
              <a:rPr dirty="0"/>
              <a:t>Uses loops, conditions</a:t>
            </a:r>
            <a:r>
              <a:rPr lang="en-US" dirty="0"/>
              <a:t>, switch cases </a:t>
            </a:r>
            <a:r>
              <a:rPr dirty="0"/>
              <a:t>&amp; functions</a:t>
            </a:r>
          </a:p>
          <a:p>
            <a:r>
              <a:rPr lang="en-US" dirty="0"/>
              <a:t>Structured</a:t>
            </a:r>
            <a:r>
              <a:rPr lang="en-US" b="1" dirty="0"/>
              <a:t> </a:t>
            </a:r>
            <a:r>
              <a:rPr dirty="0"/>
              <a:t>code + &lt;</a:t>
            </a:r>
            <a:r>
              <a:rPr dirty="0" err="1"/>
              <a:t>math.h</a:t>
            </a:r>
            <a:r>
              <a:rPr dirty="0"/>
              <a:t>&gt; for calculations</a:t>
            </a:r>
            <a:endParaRPr lang="en-US" dirty="0"/>
          </a:p>
          <a:p>
            <a:r>
              <a:rPr lang="en-US" dirty="0"/>
              <a:t>Error handling features </a:t>
            </a:r>
          </a:p>
          <a:p>
            <a:endParaRPr lang="en-US" dirty="0"/>
          </a:p>
          <a:p>
            <a:r>
              <a:rPr lang="en-US" dirty="0"/>
              <a:t>It focuses on logical thinking and debugging skills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Perform arithmetic &amp; scientific functions</a:t>
            </a:r>
          </a:p>
          <a:p>
            <a:r>
              <a:rPr dirty="0"/>
              <a:t>User‑friendly calculations</a:t>
            </a:r>
            <a:endParaRPr lang="en-US" dirty="0"/>
          </a:p>
          <a:p>
            <a:r>
              <a:rPr lang="en-US" dirty="0"/>
              <a:t>Enable to perform multiple calculations in single run until user exit </a:t>
            </a:r>
            <a:endParaRPr dirty="0"/>
          </a:p>
          <a:p>
            <a:r>
              <a:rPr dirty="0"/>
              <a:t>Strengthen C logic &amp; programming skills</a:t>
            </a:r>
            <a:endParaRPr lang="en-US" dirty="0"/>
          </a:p>
          <a:p>
            <a:r>
              <a:rPr lang="en-US" dirty="0"/>
              <a:t>Enhance logical thinking and problem solving skills</a:t>
            </a:r>
          </a:p>
          <a:p>
            <a:r>
              <a:rPr lang="en-US" dirty="0"/>
              <a:t>Accurate and efficient result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Basic: +, −, ×, ÷</a:t>
            </a:r>
          </a:p>
          <a:p>
            <a:r>
              <a:rPr dirty="0"/>
              <a:t>Advanced: power, factorial, </a:t>
            </a:r>
            <a:r>
              <a:rPr dirty="0" err="1"/>
              <a:t>sqrt</a:t>
            </a:r>
            <a:endParaRPr dirty="0"/>
          </a:p>
          <a:p>
            <a:r>
              <a:rPr dirty="0"/>
              <a:t>Future: GUI, trigonometric, log functions</a:t>
            </a:r>
            <a:endParaRPr lang="en-US" dirty="0"/>
          </a:p>
          <a:p>
            <a:r>
              <a:rPr lang="en-US" dirty="0"/>
              <a:t>Acts as educational project that bridges theoretical and real world learning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Language &amp;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 Language</a:t>
            </a:r>
          </a:p>
          <a:p>
            <a:endParaRPr dirty="0"/>
          </a:p>
          <a:p>
            <a:r>
              <a:rPr dirty="0"/>
              <a:t>Headers:</a:t>
            </a:r>
          </a:p>
          <a:p>
            <a:r>
              <a:rPr dirty="0"/>
              <a:t> &lt;</a:t>
            </a:r>
            <a:r>
              <a:rPr dirty="0" err="1"/>
              <a:t>stdio.h</a:t>
            </a:r>
            <a:r>
              <a:rPr dirty="0"/>
              <a:t>&gt; — </a:t>
            </a:r>
            <a:r>
              <a:rPr lang="en-US" dirty="0"/>
              <a:t> For taking </a:t>
            </a:r>
            <a:r>
              <a:rPr dirty="0" err="1"/>
              <a:t>Input/Output</a:t>
            </a:r>
            <a:endParaRPr dirty="0"/>
          </a:p>
          <a:p>
            <a:r>
              <a:rPr dirty="0"/>
              <a:t> &lt;</a:t>
            </a:r>
            <a:r>
              <a:rPr dirty="0" err="1"/>
              <a:t>math.h</a:t>
            </a:r>
            <a:r>
              <a:rPr dirty="0"/>
              <a:t>&gt; — </a:t>
            </a:r>
            <a:r>
              <a:rPr lang="en-US" dirty="0"/>
              <a:t>For </a:t>
            </a:r>
            <a:r>
              <a:rPr dirty="0"/>
              <a:t>Scientific functions</a:t>
            </a:r>
            <a:endParaRPr lang="en-US" dirty="0"/>
          </a:p>
          <a:p>
            <a:r>
              <a:rPr lang="en-US" dirty="0"/>
              <a:t>Core Features:</a:t>
            </a:r>
          </a:p>
          <a:p>
            <a:r>
              <a:rPr lang="en-US" dirty="0"/>
              <a:t>• Switch-case for menu</a:t>
            </a:r>
          </a:p>
          <a:p>
            <a:r>
              <a:rPr lang="en-US" dirty="0"/>
              <a:t>• While loop for continuity  </a:t>
            </a:r>
          </a:p>
          <a:p>
            <a:r>
              <a:rPr lang="en-US" dirty="0"/>
              <a:t>• Modular functions</a:t>
            </a:r>
          </a:p>
          <a:p>
            <a:r>
              <a:rPr lang="en-US" dirty="0"/>
              <a:t>• Recursion for factorial</a:t>
            </a:r>
          </a:p>
          <a:p>
            <a:r>
              <a:rPr lang="en-US" dirty="0"/>
              <a:t>• Input validation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</a:t>
            </a:r>
            <a:r>
              <a:rPr lang="en-US" dirty="0"/>
              <a:t>dd(float a, float b)</a:t>
            </a:r>
          </a:p>
          <a:p>
            <a:r>
              <a:rPr lang="en-US" dirty="0"/>
              <a:t>subtract(float a, float b)</a:t>
            </a:r>
          </a:p>
          <a:p>
            <a:r>
              <a:rPr lang="en-US" dirty="0"/>
              <a:t>multiply(float a, float b)</a:t>
            </a:r>
          </a:p>
          <a:p>
            <a:r>
              <a:rPr lang="en-US" dirty="0"/>
              <a:t>divide(float a, float b)</a:t>
            </a:r>
          </a:p>
          <a:p>
            <a:r>
              <a:rPr lang="en-US" dirty="0"/>
              <a:t>power(float base, float </a:t>
            </a:r>
            <a:r>
              <a:rPr lang="en-US" dirty="0" err="1"/>
              <a:t>exp</a:t>
            </a:r>
            <a:r>
              <a:rPr lang="en-US" dirty="0"/>
              <a:t>)</a:t>
            </a:r>
          </a:p>
          <a:p>
            <a:r>
              <a:rPr lang="en-US" dirty="0"/>
              <a:t>factorial(</a:t>
            </a:r>
            <a:r>
              <a:rPr lang="en-US" dirty="0" err="1"/>
              <a:t>int</a:t>
            </a:r>
            <a:r>
              <a:rPr lang="en-US" dirty="0"/>
              <a:t> n)</a:t>
            </a:r>
          </a:p>
          <a:p>
            <a:r>
              <a:rPr lang="en-US" dirty="0"/>
              <a:t>Square Root(float n)</a:t>
            </a:r>
          </a:p>
          <a:p>
            <a:r>
              <a:rPr lang="en-US" dirty="0"/>
              <a:t>Features: </a:t>
            </a:r>
          </a:p>
          <a:p>
            <a:r>
              <a:rPr lang="en-US" dirty="0"/>
              <a:t>• Error handling </a:t>
            </a:r>
          </a:p>
          <a:p>
            <a:r>
              <a:rPr lang="en-US" dirty="0"/>
              <a:t>• Input validation </a:t>
            </a:r>
          </a:p>
          <a:p>
            <a:r>
              <a:rPr lang="en-US" dirty="0"/>
              <a:t>• Accurate results</a:t>
            </a:r>
          </a:p>
          <a:p>
            <a:pPr marL="109728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3" y="-185737"/>
            <a:ext cx="8201297" cy="954994"/>
          </a:xfrm>
        </p:spPr>
        <p:txBody>
          <a:bodyPr>
            <a:normAutofit/>
          </a:bodyPr>
          <a:lstStyle/>
          <a:p>
            <a:r>
              <a:rPr sz="3200" dirty="0"/>
              <a:t>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6025" y="507093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Display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6025" y="1222284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Get Input</a:t>
            </a:r>
            <a:r>
              <a:rPr lang="en-US" sz="1400" dirty="0"/>
              <a:t>(1-8)</a:t>
            </a:r>
            <a:endParaRPr sz="1400" dirty="0"/>
          </a:p>
        </p:txBody>
      </p:sp>
      <p:sp>
        <p:nvSpPr>
          <p:cNvPr id="7" name="Rectangle 6"/>
          <p:cNvSpPr/>
          <p:nvPr/>
        </p:nvSpPr>
        <p:spPr>
          <a:xfrm>
            <a:off x="81777" y="3094500"/>
            <a:ext cx="8307705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i="1"/>
              <a:t>1. Addition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49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function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2. Subtraction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118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37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3. </a:t>
            </a:r>
            <a:r>
              <a:rPr sz="1400" i="1" dirty="0"/>
              <a:t>Multiplication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753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6335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>
                <a:latin typeface="Arial Rounded MT Bold" pitchFamily="34" charset="0"/>
              </a:rPr>
              <a:t>4. Division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5241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9013" y="3094500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5. 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6921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5665" y="5447121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Display Result</a:t>
            </a:r>
          </a:p>
        </p:txBody>
      </p:sp>
      <p:sp>
        <p:nvSpPr>
          <p:cNvPr id="19" name="Flowchart: Decision 18"/>
          <p:cNvSpPr/>
          <p:nvPr/>
        </p:nvSpPr>
        <p:spPr>
          <a:xfrm>
            <a:off x="2867025" y="1920240"/>
            <a:ext cx="2186940" cy="1041273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  <a:p>
            <a:pPr algn="ctr"/>
            <a:r>
              <a:rPr lang="en-US" dirty="0"/>
              <a:t>(choice)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872865" y="2961513"/>
            <a:ext cx="87630" cy="1926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1011556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3960495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5885362" y="3805825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7916635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539365" y="3761406"/>
            <a:ext cx="45719" cy="3819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4189911" y="4959804"/>
            <a:ext cx="45719" cy="354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CA3407-DBAC-B8BE-1D9F-62C9F1A84D15}"/>
              </a:ext>
            </a:extLst>
          </p:cNvPr>
          <p:cNvSpPr/>
          <p:nvPr/>
        </p:nvSpPr>
        <p:spPr>
          <a:xfrm>
            <a:off x="3097847" y="11294"/>
            <a:ext cx="1725295" cy="480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C9B160-652D-2D90-582F-49FDCA77CC80}"/>
              </a:ext>
            </a:extLst>
          </p:cNvPr>
          <p:cNvSpPr/>
          <p:nvPr/>
        </p:nvSpPr>
        <p:spPr>
          <a:xfrm>
            <a:off x="3390718" y="6265435"/>
            <a:ext cx="1725295" cy="480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49903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Program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dirty="0"/>
              <a:t>1. Display Menu </a:t>
            </a:r>
          </a:p>
          <a:p>
            <a:r>
              <a:rPr lang="en-US" dirty="0"/>
              <a:t>2. Take User Choice </a:t>
            </a:r>
          </a:p>
          <a:p>
            <a:r>
              <a:rPr lang="en-US" dirty="0"/>
              <a:t>3. Validate Input </a:t>
            </a:r>
          </a:p>
          <a:p>
            <a:r>
              <a:rPr lang="en-US" dirty="0"/>
              <a:t>4. Take Numbers </a:t>
            </a:r>
          </a:p>
          <a:p>
            <a:r>
              <a:rPr lang="en-US" dirty="0"/>
              <a:t>5. Call Function </a:t>
            </a:r>
          </a:p>
          <a:p>
            <a:r>
              <a:rPr lang="en-US" dirty="0"/>
              <a:t>6. Display Result </a:t>
            </a:r>
          </a:p>
          <a:p>
            <a:r>
              <a:rPr lang="en-US" dirty="0"/>
              <a:t>7. Repeat/Exit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 — 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</a:t>
            </a:r>
            <a:r>
              <a:rPr lang="en-US" dirty="0"/>
              <a:t>p </a:t>
            </a:r>
            <a:r>
              <a:rPr dirty="0"/>
              <a:t>|Action</a:t>
            </a:r>
            <a:r>
              <a:rPr lang="en-US" dirty="0"/>
              <a:t>	</a:t>
            </a:r>
            <a:r>
              <a:rPr dirty="0"/>
              <a:t> </a:t>
            </a:r>
            <a:r>
              <a:rPr lang="en-US" dirty="0"/>
              <a:t>		</a:t>
            </a:r>
            <a:r>
              <a:rPr dirty="0"/>
              <a:t>| Description</a:t>
            </a:r>
          </a:p>
          <a:p>
            <a:r>
              <a:rPr dirty="0"/>
              <a:t>1 </a:t>
            </a:r>
            <a:r>
              <a:rPr lang="en-US" dirty="0"/>
              <a:t>	  |</a:t>
            </a:r>
            <a:r>
              <a:rPr dirty="0"/>
              <a:t> User enters 6 </a:t>
            </a:r>
            <a:r>
              <a:rPr lang="en-US" dirty="0"/>
              <a:t>	</a:t>
            </a:r>
            <a:r>
              <a:rPr dirty="0"/>
              <a:t>| Chooses factorial</a:t>
            </a:r>
          </a:p>
          <a:p>
            <a:r>
              <a:rPr dirty="0"/>
              <a:t>2 </a:t>
            </a:r>
            <a:r>
              <a:rPr lang="en-US" dirty="0"/>
              <a:t>	  </a:t>
            </a:r>
            <a:r>
              <a:rPr dirty="0"/>
              <a:t>| Enter value 5 </a:t>
            </a:r>
            <a:r>
              <a:rPr lang="en-US" dirty="0"/>
              <a:t>		</a:t>
            </a:r>
            <a:r>
              <a:rPr dirty="0"/>
              <a:t>| Input → 5</a:t>
            </a:r>
          </a:p>
          <a:p>
            <a:r>
              <a:rPr dirty="0"/>
              <a:t>3 </a:t>
            </a:r>
            <a:r>
              <a:rPr lang="en-US" dirty="0"/>
              <a:t>	  </a:t>
            </a:r>
            <a:r>
              <a:rPr dirty="0"/>
              <a:t>| Call factorial(5</a:t>
            </a:r>
            <a:r>
              <a:rPr lang="en-US" dirty="0"/>
              <a:t>) 	</a:t>
            </a:r>
            <a:r>
              <a:rPr dirty="0"/>
              <a:t>|5×4×3×2×1 = 120</a:t>
            </a:r>
          </a:p>
          <a:p>
            <a:r>
              <a:rPr dirty="0"/>
              <a:t>4 </a:t>
            </a:r>
            <a:r>
              <a:rPr lang="en-US" dirty="0"/>
              <a:t>	  </a:t>
            </a:r>
            <a:r>
              <a:rPr dirty="0"/>
              <a:t>| Output </a:t>
            </a:r>
            <a:r>
              <a:rPr lang="en-US" dirty="0"/>
              <a:t>	</a:t>
            </a:r>
            <a:r>
              <a:rPr lang="en-US"/>
              <a:t>		</a:t>
            </a:r>
            <a:r>
              <a:t>| </a:t>
            </a:r>
            <a:r>
              <a:rPr dirty="0"/>
              <a:t>Result = 120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B22BCB-BC51-42D1-A336-AE917874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 in C</a:t>
            </a:r>
            <a:br>
              <a:rPr lang="en-US" dirty="0"/>
            </a:br>
            <a:r>
              <a:rPr lang="en-US" dirty="0"/>
              <a:t> (Used in Factorial Function)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198F3A-75E3-FCCC-7992-F06005886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Recursion is a programming technique where a function calls itself to solve smaller subproblems</a:t>
            </a:r>
          </a:p>
          <a:p>
            <a:pPr marL="0" indent="0">
              <a:buNone/>
              <a:defRPr sz="1800"/>
            </a:pP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factorial(int n)</a:t>
            </a:r>
          </a:p>
          <a:p>
            <a:pPr marL="0" indent="0">
              <a:buNone/>
              <a:defRPr sz="1800"/>
            </a:pPr>
            <a:r>
              <a:rPr lang="en-US" dirty="0"/>
              <a:t>    if(n == 0)</a:t>
            </a:r>
          </a:p>
          <a:p>
            <a:pPr marL="0" indent="0">
              <a:buNone/>
              <a:defRPr sz="1800"/>
            </a:pPr>
            <a:r>
              <a:rPr lang="en-US" dirty="0"/>
              <a:t>        return 1;</a:t>
            </a:r>
          </a:p>
          <a:p>
            <a:pPr marL="0" indent="0">
              <a:buNone/>
              <a:defRPr sz="1800"/>
            </a:pPr>
            <a:r>
              <a:rPr lang="en-US" dirty="0"/>
              <a:t>    else</a:t>
            </a:r>
          </a:p>
          <a:p>
            <a:pPr marL="0" indent="0">
              <a:buNone/>
              <a:defRPr sz="1800"/>
            </a:pPr>
            <a:r>
              <a:rPr lang="en-US" dirty="0"/>
              <a:t>        return n * factorial(n - 1);</a:t>
            </a:r>
          </a:p>
          <a:p>
            <a:pPr>
              <a:defRPr sz="1800"/>
            </a:pPr>
            <a:r>
              <a:rPr lang="en-US" dirty="0"/>
              <a:t>- Function calls itself with n-1.</a:t>
            </a:r>
          </a:p>
          <a:p>
            <a:pPr>
              <a:defRPr sz="1800"/>
            </a:pPr>
            <a:r>
              <a:rPr lang="en-US" dirty="0"/>
              <a:t>- Stops when base case (n == 0) is reached.</a:t>
            </a:r>
          </a:p>
          <a:p>
            <a:pPr>
              <a:defRPr sz="1800"/>
            </a:pPr>
            <a:r>
              <a:rPr lang="en-US" dirty="0"/>
              <a:t>- Each call multiplies the result of the next.</a:t>
            </a:r>
          </a:p>
          <a:p>
            <a:pPr>
              <a:defRPr sz="1800"/>
            </a:pPr>
            <a:r>
              <a:rPr lang="en-US" dirty="0"/>
              <a:t>The factorial of a number </a:t>
            </a:r>
            <a:r>
              <a:rPr lang="en-US" b="1" dirty="0"/>
              <a:t>n! = n × (n–1) × (n–2) × ... × 1</a:t>
            </a:r>
            <a:endParaRPr lang="en-US" dirty="0"/>
          </a:p>
          <a:p>
            <a:pPr>
              <a:defRPr sz="1800"/>
            </a:pPr>
            <a:r>
              <a:rPr lang="en-US" dirty="0"/>
              <a:t>- Useful for self-similar problems like factorial, Fibonacci</a:t>
            </a:r>
          </a:p>
        </p:txBody>
      </p:sp>
    </p:spTree>
    <p:extLst>
      <p:ext uri="{BB962C8B-B14F-4D97-AF65-F5344CB8AC3E}">
        <p14:creationId xmlns:p14="http://schemas.microsoft.com/office/powerpoint/2010/main" val="249835217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HANDLING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8515" y="1417638"/>
            <a:ext cx="8229600" cy="458965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dirty="0"/>
              <a:t> Invalid menu choice </a:t>
            </a:r>
          </a:p>
          <a:p>
            <a:r>
              <a:rPr lang="en-US" dirty="0"/>
              <a:t> Division by zero </a:t>
            </a:r>
          </a:p>
          <a:p>
            <a:r>
              <a:rPr lang="en-US" dirty="0"/>
              <a:t> Negative square root </a:t>
            </a:r>
          </a:p>
          <a:p>
            <a:r>
              <a:rPr lang="en-US" dirty="0"/>
              <a:t> Non-integer factorial </a:t>
            </a:r>
          </a:p>
          <a:p>
            <a:r>
              <a:rPr lang="en-US" dirty="0"/>
              <a:t> Invalid inputs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015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7666"/>
            <a:ext cx="7315200" cy="1154097"/>
          </a:xfrm>
        </p:spPr>
        <p:txBody>
          <a:bodyPr/>
          <a:lstStyle/>
          <a:p>
            <a:r>
              <a:rPr dirty="0"/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73301"/>
            <a:ext cx="7315200" cy="4036060"/>
          </a:xfrm>
        </p:spPr>
        <p:txBody>
          <a:bodyPr>
            <a:normAutofit fontScale="25000" lnSpcReduction="20000"/>
          </a:bodyPr>
          <a:lstStyle/>
          <a:p>
            <a:r>
              <a:rPr dirty="0"/>
              <a:t>==== Scientific Calculator ====</a:t>
            </a:r>
          </a:p>
          <a:p>
            <a:r>
              <a:rPr dirty="0"/>
              <a:t>1. Addition</a:t>
            </a:r>
          </a:p>
          <a:p>
            <a:r>
              <a:rPr dirty="0"/>
              <a:t>2. Subtraction</a:t>
            </a:r>
          </a:p>
          <a:p>
            <a:r>
              <a:rPr dirty="0"/>
              <a:t>3. Multiplication</a:t>
            </a:r>
          </a:p>
          <a:p>
            <a:r>
              <a:rPr dirty="0"/>
              <a:t>4. Division</a:t>
            </a:r>
          </a:p>
          <a:p>
            <a:r>
              <a:rPr dirty="0"/>
              <a:t>5. Power</a:t>
            </a:r>
          </a:p>
          <a:p>
            <a:r>
              <a:rPr dirty="0"/>
              <a:t>6. Factorial</a:t>
            </a:r>
          </a:p>
          <a:p>
            <a:r>
              <a:rPr dirty="0"/>
              <a:t>7. Square Root</a:t>
            </a:r>
          </a:p>
          <a:p>
            <a:r>
              <a:rPr dirty="0"/>
              <a:t>8. Exit</a:t>
            </a:r>
          </a:p>
          <a:p>
            <a:endParaRPr dirty="0"/>
          </a:p>
          <a:p>
            <a:r>
              <a:rPr dirty="0"/>
              <a:t>Enter your choice: 1</a:t>
            </a:r>
          </a:p>
          <a:p>
            <a:r>
              <a:rPr dirty="0"/>
              <a:t>Enter two numbers: 4, 7</a:t>
            </a:r>
          </a:p>
          <a:p>
            <a:r>
              <a:rPr dirty="0"/>
              <a:t>Result = 11.00</a:t>
            </a:r>
          </a:p>
          <a:p>
            <a:endParaRPr dirty="0"/>
          </a:p>
          <a:p>
            <a:r>
              <a:rPr dirty="0"/>
              <a:t>Enter your choice: 6</a:t>
            </a:r>
          </a:p>
          <a:p>
            <a:r>
              <a:rPr dirty="0"/>
              <a:t>Enter a positive integer: 5</a:t>
            </a:r>
          </a:p>
          <a:p>
            <a:r>
              <a:rPr dirty="0"/>
              <a:t>Result = 5! = 120</a:t>
            </a:r>
          </a:p>
          <a:p>
            <a:endParaRPr dirty="0"/>
          </a:p>
          <a:p>
            <a:r>
              <a:rPr dirty="0"/>
              <a:t>Enter your choice: 8</a:t>
            </a:r>
          </a:p>
          <a:p>
            <a:r>
              <a:rPr dirty="0"/>
              <a:t>Exiting program... Goodbye!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Demonstrates structured &amp; modular programming</a:t>
            </a:r>
            <a:endParaRPr lang="en-US" dirty="0"/>
          </a:p>
          <a:p>
            <a:r>
              <a:rPr lang="en-US" dirty="0"/>
              <a:t>Perform arithmetic and scientific operations</a:t>
            </a:r>
            <a:endParaRPr dirty="0"/>
          </a:p>
          <a:p>
            <a:r>
              <a:rPr dirty="0"/>
              <a:t>Uses functions, loops &amp; math library</a:t>
            </a:r>
          </a:p>
          <a:p>
            <a:r>
              <a:rPr dirty="0"/>
              <a:t>Efficient &amp; interactive calculator</a:t>
            </a:r>
            <a:endParaRPr lang="en-US" dirty="0"/>
          </a:p>
          <a:p>
            <a:pPr marL="109728" indent="0"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542</Words>
  <Application>Microsoft Office PowerPoint</Application>
  <PresentationFormat>On-screen Show (4:3)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Century Gothic</vt:lpstr>
      <vt:lpstr>Wingdings 3</vt:lpstr>
      <vt:lpstr>Ion</vt:lpstr>
      <vt:lpstr>   CCP       Scientific Calculator Project</vt:lpstr>
      <vt:lpstr>Introduction</vt:lpstr>
      <vt:lpstr>Objective</vt:lpstr>
      <vt:lpstr>Scope</vt:lpstr>
      <vt:lpstr>Language &amp; Header Files</vt:lpstr>
      <vt:lpstr>Functions Used</vt:lpstr>
      <vt:lpstr>Flowchart</vt:lpstr>
      <vt:lpstr>Program Logic</vt:lpstr>
      <vt:lpstr>Dry Run — Factorial</vt:lpstr>
      <vt:lpstr>Recursion in C  (Used in Factorial Function)</vt:lpstr>
      <vt:lpstr>ERROR HANDLING</vt:lpstr>
      <vt:lpstr>Sample Output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Calculator Project</dc:title>
  <dc:creator>HP</dc:creator>
  <dc:description>generated using python-pptx</dc:description>
  <cp:lastModifiedBy>Attari Laptop</cp:lastModifiedBy>
  <cp:revision>17</cp:revision>
  <dcterms:created xsi:type="dcterms:W3CDTF">2013-01-27T09:14:16Z</dcterms:created>
  <dcterms:modified xsi:type="dcterms:W3CDTF">2025-11-11T16:55:10Z</dcterms:modified>
</cp:coreProperties>
</file>